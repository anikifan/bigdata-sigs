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导读" id="{F92BE37D-65CA-46B5-B2DB-1C2ED6E9826B}">
          <p14:sldIdLst>
            <p14:sldId id="256"/>
            <p14:sldId id="257"/>
          </p14:sldIdLst>
        </p14:section>
        <p14:section name="Lab1 Linux" id="{8ADFBFB9-B8FA-4A1F-BA55-FF6053626D67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oding Agent" id="{143DA451-8B77-41B4-9192-2BF41F0066D8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课后学习资源" id="{DA3F2A94-424E-4941-80F5-9AB131283DCD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2900" y="1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15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今天介绍Lab1 Linux 的执行环境、任务和提交要求，再介绍服务器上使用Coding Agent 的方</a:t>
            </a:r>
          </a:p>
          <a:p>
            <a:r>
              <a:t>法与课程规则。请同学们以课程仓库的当前实验指导书为准，亲自运行并记录结果。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先介绍Lab1 的环境、任务与提交要求，再按本地工具、服务器SSH 隧道、服务器mihomo 的</a:t>
            </a:r>
          </a:p>
          <a:p>
            <a:r>
              <a:t>顺序讲Agent 使用方式，最后给出课后学习入口。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从课程仓库开始，先了解目标、可用集群与提交要求，再逐项看六个主体任务和两个Bonus。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课程仓库是实验入口，网址在右上角。请保留整个仓库，而非只下载单个文件；每次实验前</a:t>
            </a:r>
          </a:p>
          <a:p>
            <a:r>
              <a:t>同步最新内容。课件概括目标与验收点，完整操作步骤回到实验指导书查看。这里的相对路</a:t>
            </a:r>
          </a:p>
          <a:p>
            <a:r>
              <a:t>径属于课件工程，课程仓库中的文件位置以实际目录为准。来源：指导书仓库说明。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这四组能力为后续MapReduce 和Spark 实验打基础。第二节按四组核心任务组织，第三节展</a:t>
            </a:r>
          </a:p>
          <a:p>
            <a:r>
              <a:t>开成六个编号任务：SSH 两项，文件文本一项，时间与进程两项，脚本一项。后面的页面按</a:t>
            </a:r>
          </a:p>
          <a:p>
            <a:r>
              <a:t>六个编号逐项介绍。Bonus 把已有能力组织成切分、分发、远程执行、回收和汇总的流水线；</a:t>
            </a:r>
          </a:p>
          <a:p>
            <a:r>
              <a:t>不做Bonus 不影响主体的五分满分。来源：指导书第一、二节和第四节。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先确保连接tsinghua 网络或VPN，再按学号尾号选择一个集群。第一行对应单号，第二行对</a:t>
            </a:r>
          </a:p>
          <a:p>
            <a:r>
              <a:t>应双号；student_id 替换为本人学号。第二集群入口不是默认端口，必须指定8001。图展示</a:t>
            </a:r>
          </a:p>
          <a:p>
            <a:r>
              <a:t>登录路径，连接信息来自指导书第二节，本次没有连接服务器实测。每位同学只使用分配到</a:t>
            </a:r>
          </a:p>
          <a:p>
            <a:r>
              <a:t>的集群。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两组图统一使用入口与节点编号表示同一种SSH 跳转关系。集群一实际主机名如thumm01、</a:t>
            </a:r>
          </a:p>
          <a:p>
            <a:r>
              <a:t>thumm02；集群二的具体主机名按课程环境确认。外部先进入01，随后使用内部主机名跳</a:t>
            </a:r>
          </a:p>
          <a:p>
            <a:r>
              <a:t>转。连线表示SSH 路径，不表示物理交换机拓扑或两集群互通。首次登录后及时改密，凭据</a:t>
            </a:r>
          </a:p>
          <a:p>
            <a:r>
              <a:t>不要分享。可用状态以课程公告为准，集群一03 不可用。来源：指导书第二节、任务3.3 和</a:t>
            </a:r>
          </a:p>
          <a:p>
            <a:r>
              <a:t>outline 改密要求。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客户端不同，SSH 连接的基本信息相同。终端适合先辨认命令在哪里执行，IDE 方便后续编</a:t>
            </a:r>
          </a:p>
          <a:p>
            <a:r>
              <a:t>辑与调试。特别关注当前终端究竟在本地还是远端，以及当前节点和工作目录。两个页面是</a:t>
            </a:r>
          </a:p>
          <a:p>
            <a:r>
              <a:t>指导书指定的阅读入口；已读取官方页面的Remote-SSH 说明，未测试本次学生机器的插件</a:t>
            </a:r>
          </a:p>
          <a:p>
            <a:r>
              <a:t>或网络。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报告中的代码用文本呈现，关键运行结果用截图呈现，代码文件还需要放在code 文件夹。</a:t>
            </a:r>
          </a:p>
          <a:p>
            <a:r>
              <a:t>命名示例是2021200000_ 张三_ 实验一.zip，报告是同名PDF；原文允许其他压缩格式。本</a:t>
            </a:r>
          </a:p>
          <a:p>
            <a:r>
              <a:t>课件没有增加截止日期，请按网络学堂要求提交。接下来逐项看各任务要记录的证据。来</a:t>
            </a:r>
          </a:p>
          <a:p>
            <a:r>
              <a:t>源：指导书第二节报告提交要求。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完整登录步骤见指导书任务1，初始凭据按指导书和课程通知获取。重点是确认登录到分配</a:t>
            </a:r>
          </a:p>
          <a:p>
            <a:r>
              <a:t>的集群，避免把指导书第一集群示例直接用于双号账户。提示符能帮助辨认当前主机；后续</a:t>
            </a:r>
          </a:p>
          <a:p>
            <a:r>
              <a:t>每条命令都要知道在哪个节点执行。本任务原文未给出独立截图评分条目，不额外设定要</a:t>
            </a:r>
          </a:p>
          <a:p>
            <a:r>
              <a:t>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先解释公钥和私钥分别在哪里，再讲认证流程。公钥加入服务器认证列表后可以验证身份，</a:t>
            </a:r>
          </a:p>
          <a:p>
            <a:r>
              <a:t>私钥仍由本地保管。Windows 的手动方法见指导书；若服务器已有authorized_keys，不要用</a:t>
            </a:r>
          </a:p>
          <a:p>
            <a:r>
              <a:t>覆盖整个文件的方式丢失既有公钥，应保留原内容。这里介绍本地到服务器的认证，Bonus</a:t>
            </a:r>
          </a:p>
          <a:p>
            <a:r>
              <a:t>会扩展到节点之间。来源：任务2 和课程AGENTS.md。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按3.1 到3.3 通读示例，不需要每条命令逐一截图。文件操作练习工作目录和Vim 基本使用；</a:t>
            </a:r>
          </a:p>
          <a:p>
            <a:r>
              <a:t>读写练习查看、筛选、远程拷贝和重定向；最终把命令组合成一行word count 管道。数据集</a:t>
            </a:r>
          </a:p>
          <a:p>
            <a:r>
              <a:t>每行一个词，uniq 统计相邻重复，因此通常先排序。</a:t>
            </a:r>
          </a:p>
          <a:p>
            <a:r>
              <a:t>Top-10 命令和前十行截图是核心提交点；另外用1 到2 句话判断1GB 数据下的瓶颈，以及</a:t>
            </a:r>
          </a:p>
          <a:p>
            <a:r>
              <a:t>MapReduce、Spark 为什么采用分而治之。完整命令与参考示例回到指导书任务3，不把参考</a:t>
            </a:r>
          </a:p>
          <a:p>
            <a:r>
              <a:t>答案搬进页面。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脚本顺序执行会阻塞；互不依赖的负载可以放到后台并行。后台版必须wait，否则脚本返回</a:t>
            </a:r>
          </a:p>
          <a:p>
            <a:r>
              <a:t>并不表示所有任务完成。五次负载相同，重点比较real 与CPU 时间的含义，提交自己的测量</a:t>
            </a:r>
          </a:p>
          <a:p>
            <a:r>
              <a:t>与解释。</a:t>
            </a:r>
          </a:p>
          <a:p>
            <a:r>
              <a:t>指导书的时间只是示例，多核并行可能降低real，总CPU 工作量不必同比下降，加速还受核</a:t>
            </a:r>
          </a:p>
          <a:p>
            <a:r>
              <a:t>数与共享机器负载影响。两个脚本完整内容见任务4，不能把示例的约四倍当作保证。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分别启动持续至少60 秒的命令，使用ps 和jobs 查看并截图。用普通kill 结束其中一个进程，</a:t>
            </a:r>
          </a:p>
          <a:p>
            <a:r>
              <a:t>随后用ps 确认退出，本任务不要用kill -9。报告还需要free -h、df -h 和当前用户目录du -sh</a:t>
            </a:r>
          </a:p>
          <a:p>
            <a:r>
              <a:t>截图，并解释端口被占用时如何定位和清理。</a:t>
            </a:r>
          </a:p>
          <a:p>
            <a:r>
              <a:t>top 或htop 提供实时视图，Ctrl-Z 是挂起，bg 是后台继续，fg 回到前台。nohup 用于让任务在</a:t>
            </a:r>
          </a:p>
          <a:p>
            <a:r>
              <a:t>退出SSH 后继续运行。先确认进程归属，只清理自己的任务。来源：任务5 及课程集群规则。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脚本把已有命令组织成可复用工具。基础语法包括变量、数组、for、if、while、函数和退出</a:t>
            </a:r>
          </a:p>
          <a:p>
            <a:r>
              <a:t>码。start_all 与stop_all 使用本人集群的四个可用节点；集群一是01、02、04、05。每次SSH</a:t>
            </a:r>
          </a:p>
          <a:p>
            <a:r>
              <a:t>失败要警告并继续，随后逐节点验证，最后清理并报告结果。</a:t>
            </a:r>
          </a:p>
          <a:p>
            <a:r>
              <a:t>全局set -e 与失败后继续是不同策略，应按具体流程处理退出码。pgrep 或pkill 的-x sleep 仍</a:t>
            </a:r>
          </a:p>
          <a:p>
            <a:r>
              <a:t>会匹配其他sleep 进程，先确认归属和既有任务；PID 定位思路见指导书。Top-K 脚本要检查</a:t>
            </a:r>
          </a:p>
          <a:p>
            <a:r>
              <a:t>两个参数与输入文件，并展示自己的运行结果。完整要求见任务6，课件不提供可直接提交</a:t>
            </a:r>
          </a:p>
          <a:p>
            <a:r>
              <a:t>的实现。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多节点协调要求节点之间建立认证关系。图只表达信任目标，不是要求只验证相邻连线；四</a:t>
            </a:r>
          </a:p>
          <a:p>
            <a:r>
              <a:t>个可用节点应相互免密登录。集群二按01 到04 调整。</a:t>
            </a:r>
          </a:p>
          <a:p>
            <a:r>
              <a:t>指导书有参考伪代码，本课件只讲目标和公钥信任关系，不照搬清空认证文件或集中分发私</a:t>
            </a:r>
          </a:p>
          <a:p>
            <a:r>
              <a:t>钥的做法。保留已有authorized_keys，私钥不公开、不共享。B.1 占Bonus 的0.5 分；Bonus</a:t>
            </a:r>
          </a:p>
          <a:p>
            <a:r>
              <a:t>可以弥补主体失分，不影响主体五分满分。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真正的多节点处理是各节点分别执行切片上的统计，而不是在01 做完再复制结果。按B.2 文</a:t>
            </a:r>
          </a:p>
          <a:p>
            <a:r>
              <a:t>字要求区分大小写，单机与多机采用相同口径；参考代码的小写转换与文字要求有冲突，已</a:t>
            </a:r>
          </a:p>
          <a:p>
            <a:r>
              <a:t>按确认的大纲澄清。局部如果只返回Top-K，可能漏掉全局高频词，应先保留完整局部词频，</a:t>
            </a:r>
          </a:p>
          <a:p>
            <a:r>
              <a:t>合并同词计数后再取Top-K。</a:t>
            </a:r>
          </a:p>
          <a:p>
            <a:r>
              <a:t>报告提交完整流水线脚本，比较单机整份数据和四节点的real time、加速比，说明为何可能</a:t>
            </a:r>
          </a:p>
          <a:p>
            <a:r>
              <a:t>达不到四倍以及1MB 数据为何可能更慢。记录实际数据规模，不把指导书不一致的10M 至</a:t>
            </a:r>
          </a:p>
          <a:p>
            <a:r>
              <a:t>20M 与重复十几次写成确定要求。来源：指导书B.2 及已确认口径修订。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先一起介绍Cursor 与本地Agent 的远程使用，再介绍安装在服务器上的Agent，依次用SSH</a:t>
            </a:r>
          </a:p>
          <a:p>
            <a:r>
              <a:t>隧道和mihomo 解决网络路径。最后介绍Codex 的AGENTS.md 规则发现与课程允许的使用</a:t>
            </a:r>
          </a:p>
          <a:p>
            <a:r>
              <a:t>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把Cursor 与本地Agent 放在一起作为先从本地连接服务器的入口。Cursor 用Remote-SSH 编</a:t>
            </a:r>
          </a:p>
          <a:p>
            <a:r>
              <a:t>辑、调试远端代码；本地Agent 可以根据提供的SSH 连接方法操作服务器，少做服务器侧</a:t>
            </a:r>
          </a:p>
          <a:p>
            <a:r>
              <a:t>Agent 配置。</a:t>
            </a:r>
          </a:p>
          <a:p>
            <a:r>
              <a:t>使用时仍关注SSH、远端环境、相关下载路径、网络往返与凭据边界，以及部分工具对远端</a:t>
            </a:r>
          </a:p>
          <a:p>
            <a:r>
              <a:t>操作的适配。接下来转到把Codex 或Claude Code 安装在服务器上的方式：先借用本地代理</a:t>
            </a:r>
          </a:p>
          <a:p>
            <a:r>
              <a:t>的SSH 隧道，再讲远端mihomo。来源：outline.md 及已读取的Cursor 官方页面；顺序按用户</a:t>
            </a:r>
          </a:p>
          <a:p>
            <a:r>
              <a:t>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RemoteForward 在远端建立监听入口，通过SSH 通道转发到本地电脑的目标地址。远端Agent</a:t>
            </a:r>
          </a:p>
          <a:p>
            <a:r>
              <a:t>访问127.0.0.1:7897，实际借用的是本地代理，不是在远端新安装一个代理服务。</a:t>
            </a:r>
          </a:p>
          <a:p>
            <a:r>
              <a:t>SSH 断开会使这条代理路径中断；Agent 进程是否退出取决于会话管理，这与隧道生命周期</a:t>
            </a:r>
          </a:p>
          <a:p>
            <a:r>
              <a:t>应分开理解。例子的7897 是指定端口，不能假定本地已经存在相应服务。来源：outline 配</a:t>
            </a:r>
          </a:p>
          <a:p>
            <a:r>
              <a:t>置示例和OpenSSH 官方ssh_config 的RemoteForward 条目。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Host 是本地别名，HostName 是远端入口，User 是远端账户。保留作者示例jtliu 并明确它不</a:t>
            </a:r>
          </a:p>
          <a:p>
            <a:r>
              <a:t>是学生实际账户；IdentityFile 指定本地私钥，IdentitiesOnly 控制所用身份。最后一行是重点：</a:t>
            </a:r>
          </a:p>
          <a:p>
            <a:r>
              <a:t>前面的7897 在远端监听，localhost:7897 指本地电脑的代理。</a:t>
            </a:r>
          </a:p>
          <a:p>
            <a:r>
              <a:t>第一集群示例使用默认SSH 端口；第二集群需指定自己的入口和8001 端口。</a:t>
            </a:r>
          </a:p>
          <a:p>
            <a:r>
              <a:t>草稿里的中文解释移到代码外，避免读者把解释当作配置字段。用户指定</a:t>
            </a:r>
          </a:p>
          <a:p>
            <a:r>
              <a:t>linux.die.net 链接本次返回403，未核验其正文；语义依据已读取的OpenSSH 官方页面：</a:t>
            </a:r>
          </a:p>
          <a:p>
            <a:r>
              <a:t>https://man.openbsd.org/ssh_config#RemoteForward。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这些变量写在服务器的.profile 里，127.0.0.1 指服务器自己的回环入口，经SSH 转发到本地代</a:t>
            </a:r>
          </a:p>
          <a:p>
            <a:r>
              <a:t>理。http_proxy 和https_proxy 在示例中使用HTTP 代理，all_proxy 使用SOCKS5H；本地代理入</a:t>
            </a:r>
          </a:p>
          <a:p>
            <a:r>
              <a:t>口必须支持两种协议，端口相同并不自动保证协议兼容。</a:t>
            </a:r>
          </a:p>
          <a:p>
            <a:r>
              <a:t>no_proxy 让localhost、IPv4 和IPv6 回环地址绕过代理；大写别名适配读取不同变量名称的程</a:t>
            </a:r>
          </a:p>
          <a:p>
            <a:r>
              <a:t>序。具体程序是否遵循这些变量需要按自身文档或结果核查。代码来自outline.md，本课件</a:t>
            </a:r>
          </a:p>
          <a:p>
            <a:r>
              <a:t>只展示配置，不在真实服务器执行。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草稿通过.bashrc 读取.profile，让当前Shell 加载代理环境。复制前检查既有.profile：如果它反</a:t>
            </a:r>
          </a:p>
          <a:p>
            <a:r>
              <a:t>过来又加载.bashrc，可能形成互相加载，需要按已有结构安排。下一页把同一个.bashrc 中的</a:t>
            </a:r>
          </a:p>
          <a:p>
            <a:r>
              <a:t>noproxy 函数单独展示，保持代码字号和条件可读。来源：outline.md 和已确认的配置条件。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这是草稿.bashrc 里的第二部分。noproxy 函数用env -u 移除列出的大小写代理变量，然后执</a:t>
            </a:r>
          </a:p>
          <a:p>
            <a:r>
              <a:t>行传入命令。它只改变那次命令的环境，不会停止代理服务。来源：outline.md 的原函数；与</a:t>
            </a:r>
          </a:p>
          <a:p>
            <a:r>
              <a:t>上一页只是排版拆分。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前面的服务器Agent 借用本地代理，这里把代理也放到服务器：配置mihomo 和原生Agent，</a:t>
            </a:r>
          </a:p>
          <a:p>
            <a:r>
              <a:t>可减少对本地SSH 转发通道的依赖，同时增加配置和维护工作。可以先用Cursor 或本地</a:t>
            </a:r>
          </a:p>
          <a:p>
            <a:r>
              <a:t>Agent 入门，再让Agent 辅助解释两种服务器配置。共享服务器上的服务安装遵守课程管理</a:t>
            </a:r>
          </a:p>
          <a:p>
            <a:r>
              <a:t>要求。指定仓库是阅读入口，本次没有测试其配置或实际安装服务。来源：outline.md 和已</a:t>
            </a:r>
          </a:p>
          <a:p>
            <a:r>
              <a:t>读取的指定仓库；Cursor 细节集中在本地工具页。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这页介绍Codex 官方的发现逻辑，不泛化到所有Agent 产品。Codex home 默认是/.codex；有</a:t>
            </a:r>
          </a:p>
          <a:p>
            <a:r>
              <a:t>全局override 时优先用它，否则使用AGENTS.md，并选择首个非空文件。项目从根目录走到</a:t>
            </a:r>
          </a:p>
          <a:p>
            <a:r>
              <a:t>当前工作目录，每级检查override、普通文件和配置的fallback 名称，最多一个文件。</a:t>
            </a:r>
          </a:p>
          <a:p>
            <a:r>
              <a:t>合并顺序由根到深层，后出现的具体项目规则覆盖较早冲突。空文件跳过，默认合并上限</a:t>
            </a:r>
          </a:p>
          <a:p>
            <a:r>
              <a:t>32KiB；没有找到项目根时只检查当前目录。Codex 启动时建立规则链，不是自动遍历仓库所</a:t>
            </a:r>
          </a:p>
          <a:p>
            <a:r>
              <a:t>有子目录。来源：官方Custom instructions with AGENTS.md，原developers 入口重定向到此</a:t>
            </a:r>
          </a:p>
          <a:p>
            <a:r>
              <a:t>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图是教学示意，不是课程仓库真实结构。从labs/lab1 启动时，沿路径读取repo 和labs 规则；</a:t>
            </a:r>
          </a:p>
          <a:p>
            <a:r>
              <a:t>无关兄弟目录不会因为启动而自动遍历。请Agent 列出已加载的文件，检查工作目录是否正</a:t>
            </a:r>
          </a:p>
          <a:p>
            <a:r>
              <a:t>确。规则修改后重新启动会话核查加载情况。</a:t>
            </a:r>
          </a:p>
          <a:p>
            <a:r>
              <a:t>更深规则覆盖较早项目规则，不代表可以取消系统限制或课程纪律。默认32KiB 上限和</a:t>
            </a:r>
          </a:p>
          <a:p>
            <a:r>
              <a:t>fallback 可配置，完整细节在同页指南。来源：官方AGENTS.md 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文章建议随着模型能力变化检查累积指令。Skills 描述要短且精确界定适用任务；根入口作</a:t>
            </a:r>
          </a:p>
          <a:p>
            <a:r>
              <a:t>为简短路由，详细指南渐进加载，不强迫每次小改读全套文件。过度具体的执行配方可能妨</a:t>
            </a:r>
          </a:p>
          <a:p>
            <a:r>
              <a:t>碍判断，应保留影响项目结果的要求。</a:t>
            </a:r>
          </a:p>
          <a:p>
            <a:r>
              <a:t>边界要说明哪些安全流程可以继续、哪里需要确认，完成标准要包含运行、检查和修复，不</a:t>
            </a:r>
          </a:p>
          <a:p>
            <a:r>
              <a:t>让任务停在第一次实现。精简重复测试与无关要求，同时保留课程诚信和集群安全限制。来</a:t>
            </a:r>
          </a:p>
          <a:p>
            <a:r>
              <a:t>源：同页指定OpenAI 文章，已读取Better skills、Up-to-date AGENTS.md、Decision boundaries</a:t>
            </a:r>
          </a:p>
          <a:p>
            <a:r>
              <a:t>和Persistence 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课程AGENTS.md 把Agent 定位为助教：解释概念、询问已有尝试、审阅学生代码和建议下一</a:t>
            </a:r>
          </a:p>
          <a:p>
            <a:r>
              <a:t>步检查，不代写工作提交。它明确禁止完成评分脚本或TODO、给出可直接提交的报告和截</a:t>
            </a:r>
          </a:p>
          <a:p>
            <a:r>
              <a:t>图，也不能引用往届或TA 参考答案。</a:t>
            </a:r>
          </a:p>
          <a:p>
            <a:r>
              <a:t>以当前实验指导书为准，学生亲自操作共享集群，不让Agent 代跑作业或清理他人进程。只</a:t>
            </a:r>
          </a:p>
          <a:p>
            <a:r>
              <a:t>使用可用节点和自己的目录；Spark、Streaming 结束后按要求退出与停止。AI 可以帮理解语</a:t>
            </a:r>
          </a:p>
          <a:p>
            <a:r>
              <a:t>法、报错和高层概念，实现与结果判断由学生完成。课程规则文件在同页给出入口。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求助先给出上下文，Agent 才能建议有针对性的检查。按课程规则把实现和实际运行留给自</a:t>
            </a:r>
          </a:p>
          <a:p>
            <a:r>
              <a:t>己；目标是理解原因并验证判断。来源：materials/AGENTS.md 的Teaching approach 和What</a:t>
            </a:r>
          </a:p>
          <a:p>
            <a:r>
              <a:t>agents SHOULD do。接下来提供课后学习入口。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根据薄弱环节选择资源：Shell 和命令行工具、Bash 脚本、Coding Agent 的工作方式。保留草</a:t>
            </a:r>
          </a:p>
          <a:p>
            <a:r>
              <a:t>稿指定的学习入口。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这张已提供的课程页面截图列出2026 Lectures：Shell、命令行环境、开发工具、调试及Agentic</a:t>
            </a:r>
          </a:p>
          <a:p>
            <a:r>
              <a:t>Coding 等。可按自己薄弱环节选择学习；截图仅反映捕获内容，最新安排进入同页网址查</a:t>
            </a:r>
          </a:p>
          <a:p>
            <a:r>
              <a:t>看。素材：materials/the_missing_semester.png；链接来自outline.md。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截图的章节对应实验中会用到的Bash 基础，可回查命令参数、变量展开和条件。循环与函数条</a:t>
            </a:r>
          </a:p>
          <a:p>
            <a:r>
              <a:t>目也在截图中；不根据截图推断当前网站章节完成状态。素材：materials/The_Bash_Guide.png；</a:t>
            </a:r>
          </a:p>
          <a:p>
            <a:r>
              <a:t>链接来自outline.md。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截图裁取课程主题区域，展示首周The Internals of Coding Agents，涉及模型、Agent 循环与读</a:t>
            </a:r>
          </a:p>
          <a:p>
            <a:r>
              <a:t>写执行工具。这里提供学习入口，不推断网站当前时间表。原PNG 保持完整；课程完整名称</a:t>
            </a:r>
          </a:p>
          <a:p>
            <a:r>
              <a:t>和URL 同页可见。素材：materials/CS146S.png；链接来自outline.md。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保留outline.md 中指定的工具分组与四个视频链接，watch 参数完整。课件没有给未经核验</a:t>
            </a:r>
          </a:p>
          <a:p>
            <a:r>
              <a:t>的视频标题、作者、时长或评价，制作时未观看这些视频；它们作为讲者指定的课后入口。</a:t>
            </a:r>
          </a:p>
          <a:p>
            <a:r>
              <a:t>请同学们结合课程规则使用工具。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回到实验指导书按任务完成，并记录自己的运行结果。请记住使用分配到的集群、首次登录</a:t>
            </a:r>
          </a:p>
          <a:p>
            <a:r>
              <a:t>及时改密，以及在课程规则内请求Agent 帮助。现在欢迎提问。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slide" Target="slide18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3.png"/><Relationship Id="rId7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1.xml"/><Relationship Id="rId3" Type="http://schemas.openxmlformats.org/officeDocument/2006/relationships/image" Target="../media/image4.png"/><Relationship Id="rId7" Type="http://schemas.openxmlformats.org/officeDocument/2006/relationships/slide" Target="slide8.xml"/><Relationship Id="rId12" Type="http://schemas.openxmlformats.org/officeDocument/2006/relationships/slide" Target="slide1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3.xml"/><Relationship Id="rId5" Type="http://schemas.openxmlformats.org/officeDocument/2006/relationships/slide" Target="slide4.xml"/><Relationship Id="rId10" Type="http://schemas.openxmlformats.org/officeDocument/2006/relationships/slide" Target="slide16.xml"/><Relationship Id="rId4" Type="http://schemas.openxmlformats.org/officeDocument/2006/relationships/hyperlink" Target="https://github.com/AnikiFan/BigData-SIGS.git" TargetMode="External"/><Relationship Id="rId9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5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1.xml"/><Relationship Id="rId3" Type="http://schemas.openxmlformats.org/officeDocument/2006/relationships/image" Target="../media/image8.png"/><Relationship Id="rId7" Type="http://schemas.openxmlformats.org/officeDocument/2006/relationships/slide" Target="slide8.xml"/><Relationship Id="rId12" Type="http://schemas.openxmlformats.org/officeDocument/2006/relationships/slide" Target="slide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3.xml"/><Relationship Id="rId5" Type="http://schemas.openxmlformats.org/officeDocument/2006/relationships/slide" Target="slide4.xml"/><Relationship Id="rId10" Type="http://schemas.openxmlformats.org/officeDocument/2006/relationships/slide" Target="slide16.xml"/><Relationship Id="rId4" Type="http://schemas.openxmlformats.org/officeDocument/2006/relationships/hyperlink" Target="https://code.visualstudio.com/docs/remote/ssh" TargetMode="External"/><Relationship Id="rId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9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0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1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2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3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4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5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6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7.png"/><Relationship Id="rId7" Type="http://schemas.openxmlformats.org/officeDocument/2006/relationships/slide" Target="slide9.xml"/><Relationship Id="rId12" Type="http://schemas.openxmlformats.org/officeDocument/2006/relationships/slide" Target="slide3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6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image" Target="../media/image18.png"/><Relationship Id="rId7" Type="http://schemas.openxmlformats.org/officeDocument/2006/relationships/slide" Target="slide2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19.xml"/><Relationship Id="rId9" Type="http://schemas.openxmlformats.org/officeDocument/2006/relationships/slide" Target="slide2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1.xml"/><Relationship Id="rId3" Type="http://schemas.openxmlformats.org/officeDocument/2006/relationships/image" Target="../media/image19.png"/><Relationship Id="rId7" Type="http://schemas.openxmlformats.org/officeDocument/2006/relationships/slide" Target="slide25.xml"/><Relationship Id="rId12" Type="http://schemas.openxmlformats.org/officeDocument/2006/relationships/slide" Target="slide1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slide" Target="slide3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19.xml"/><Relationship Id="rId9" Type="http://schemas.openxmlformats.org/officeDocument/2006/relationships/slide" Target="slide2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18.xml"/><Relationship Id="rId3" Type="http://schemas.openxmlformats.org/officeDocument/2006/relationships/image" Target="../media/image20.png"/><Relationship Id="rId7" Type="http://schemas.openxmlformats.org/officeDocument/2006/relationships/slide" Target="slide22.xml"/><Relationship Id="rId12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slide" Target="slide29.xml"/><Relationship Id="rId5" Type="http://schemas.openxmlformats.org/officeDocument/2006/relationships/slide" Target="slide19.xml"/><Relationship Id="rId10" Type="http://schemas.openxmlformats.org/officeDocument/2006/relationships/slide" Target="slide28.xml"/><Relationship Id="rId4" Type="http://schemas.openxmlformats.org/officeDocument/2006/relationships/hyperlink" Target="https://man.openbsd.org/ssh_config#RemoteForward" TargetMode="External"/><Relationship Id="rId9" Type="http://schemas.openxmlformats.org/officeDocument/2006/relationships/slide" Target="slide26.xml"/><Relationship Id="rId14" Type="http://schemas.openxmlformats.org/officeDocument/2006/relationships/slide" Target="slide3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18.xml"/><Relationship Id="rId3" Type="http://schemas.openxmlformats.org/officeDocument/2006/relationships/image" Target="../media/image21.png"/><Relationship Id="rId7" Type="http://schemas.openxmlformats.org/officeDocument/2006/relationships/slide" Target="slide22.xml"/><Relationship Id="rId12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slide" Target="slide29.xml"/><Relationship Id="rId5" Type="http://schemas.openxmlformats.org/officeDocument/2006/relationships/slide" Target="slide19.xml"/><Relationship Id="rId10" Type="http://schemas.openxmlformats.org/officeDocument/2006/relationships/slide" Target="slide28.xml"/><Relationship Id="rId4" Type="http://schemas.openxmlformats.org/officeDocument/2006/relationships/hyperlink" Target="https://linux.die.net/man/5/ssh_config" TargetMode="External"/><Relationship Id="rId9" Type="http://schemas.openxmlformats.org/officeDocument/2006/relationships/slide" Target="slide26.xml"/><Relationship Id="rId14" Type="http://schemas.openxmlformats.org/officeDocument/2006/relationships/slide" Target="slide3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1.xml"/><Relationship Id="rId3" Type="http://schemas.openxmlformats.org/officeDocument/2006/relationships/image" Target="../media/image22.png"/><Relationship Id="rId7" Type="http://schemas.openxmlformats.org/officeDocument/2006/relationships/slide" Target="slide25.xml"/><Relationship Id="rId12" Type="http://schemas.openxmlformats.org/officeDocument/2006/relationships/slide" Target="slide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slide" Target="slide3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19.xml"/><Relationship Id="rId9" Type="http://schemas.openxmlformats.org/officeDocument/2006/relationships/slide" Target="slide2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1.xml"/><Relationship Id="rId3" Type="http://schemas.openxmlformats.org/officeDocument/2006/relationships/image" Target="../media/image23.png"/><Relationship Id="rId7" Type="http://schemas.openxmlformats.org/officeDocument/2006/relationships/slide" Target="slide25.xml"/><Relationship Id="rId12" Type="http://schemas.openxmlformats.org/officeDocument/2006/relationships/slide" Target="slide1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slide" Target="slide3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19.xml"/><Relationship Id="rId9" Type="http://schemas.openxmlformats.org/officeDocument/2006/relationships/slide" Target="slide2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1.xml"/><Relationship Id="rId3" Type="http://schemas.openxmlformats.org/officeDocument/2006/relationships/image" Target="../media/image24.png"/><Relationship Id="rId7" Type="http://schemas.openxmlformats.org/officeDocument/2006/relationships/slide" Target="slide25.xml"/><Relationship Id="rId12" Type="http://schemas.openxmlformats.org/officeDocument/2006/relationships/slide" Target="slide1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slide" Target="slide3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19.xml"/><Relationship Id="rId9" Type="http://schemas.openxmlformats.org/officeDocument/2006/relationships/slide" Target="slide2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18.xml"/><Relationship Id="rId3" Type="http://schemas.openxmlformats.org/officeDocument/2006/relationships/image" Target="../media/image25.png"/><Relationship Id="rId7" Type="http://schemas.openxmlformats.org/officeDocument/2006/relationships/slide" Target="slide22.xml"/><Relationship Id="rId12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slide" Target="slide29.xml"/><Relationship Id="rId5" Type="http://schemas.openxmlformats.org/officeDocument/2006/relationships/slide" Target="slide19.xml"/><Relationship Id="rId10" Type="http://schemas.openxmlformats.org/officeDocument/2006/relationships/slide" Target="slide28.xml"/><Relationship Id="rId4" Type="http://schemas.openxmlformats.org/officeDocument/2006/relationships/hyperlink" Target="https://github.com/HenryChiao/MIHOMO_YAMLS.git" TargetMode="External"/><Relationship Id="rId9" Type="http://schemas.openxmlformats.org/officeDocument/2006/relationships/slide" Target="slide26.xml"/><Relationship Id="rId14" Type="http://schemas.openxmlformats.org/officeDocument/2006/relationships/slide" Target="slide3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18.xml"/><Relationship Id="rId3" Type="http://schemas.openxmlformats.org/officeDocument/2006/relationships/image" Target="../media/image26.png"/><Relationship Id="rId7" Type="http://schemas.openxmlformats.org/officeDocument/2006/relationships/slide" Target="slide22.xml"/><Relationship Id="rId12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slide" Target="slide29.xml"/><Relationship Id="rId5" Type="http://schemas.openxmlformats.org/officeDocument/2006/relationships/slide" Target="slide19.xml"/><Relationship Id="rId10" Type="http://schemas.openxmlformats.org/officeDocument/2006/relationships/slide" Target="slide28.xml"/><Relationship Id="rId4" Type="http://schemas.openxmlformats.org/officeDocument/2006/relationships/hyperlink" Target="https://learn.chatgpt.com/docs/agent-configuration/agents-md" TargetMode="External"/><Relationship Id="rId9" Type="http://schemas.openxmlformats.org/officeDocument/2006/relationships/slide" Target="slide26.xml"/><Relationship Id="rId14" Type="http://schemas.openxmlformats.org/officeDocument/2006/relationships/slide" Target="slide3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18.xml"/><Relationship Id="rId3" Type="http://schemas.openxmlformats.org/officeDocument/2006/relationships/image" Target="../media/image27.png"/><Relationship Id="rId7" Type="http://schemas.openxmlformats.org/officeDocument/2006/relationships/slide" Target="slide22.xml"/><Relationship Id="rId12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slide" Target="slide29.xml"/><Relationship Id="rId5" Type="http://schemas.openxmlformats.org/officeDocument/2006/relationships/slide" Target="slide19.xml"/><Relationship Id="rId10" Type="http://schemas.openxmlformats.org/officeDocument/2006/relationships/slide" Target="slide28.xml"/><Relationship Id="rId4" Type="http://schemas.openxmlformats.org/officeDocument/2006/relationships/hyperlink" Target="https://learn.chatgpt.com/docs/agent-configuration/agents-md" TargetMode="External"/><Relationship Id="rId9" Type="http://schemas.openxmlformats.org/officeDocument/2006/relationships/slide" Target="slide26.xml"/><Relationship Id="rId14" Type="http://schemas.openxmlformats.org/officeDocument/2006/relationships/slide" Target="slide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18.xml"/><Relationship Id="rId3" Type="http://schemas.openxmlformats.org/officeDocument/2006/relationships/image" Target="../media/image28.png"/><Relationship Id="rId7" Type="http://schemas.openxmlformats.org/officeDocument/2006/relationships/slide" Target="slide22.xml"/><Relationship Id="rId12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slide" Target="slide29.xml"/><Relationship Id="rId5" Type="http://schemas.openxmlformats.org/officeDocument/2006/relationships/slide" Target="slide19.xml"/><Relationship Id="rId10" Type="http://schemas.openxmlformats.org/officeDocument/2006/relationships/slide" Target="slide28.xml"/><Relationship Id="rId4" Type="http://schemas.openxmlformats.org/officeDocument/2006/relationships/hyperlink" Target="https://developers.openai.com/blog/rethinking-skills-and-prompts-for-gpt-6-astra?utm_source=chatgpt.com" TargetMode="External"/><Relationship Id="rId9" Type="http://schemas.openxmlformats.org/officeDocument/2006/relationships/slide" Target="slide26.xml"/><Relationship Id="rId14" Type="http://schemas.openxmlformats.org/officeDocument/2006/relationships/slide" Target="slide3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1.xml"/><Relationship Id="rId3" Type="http://schemas.openxmlformats.org/officeDocument/2006/relationships/image" Target="../media/image29.png"/><Relationship Id="rId7" Type="http://schemas.openxmlformats.org/officeDocument/2006/relationships/slide" Target="slide25.xml"/><Relationship Id="rId12" Type="http://schemas.openxmlformats.org/officeDocument/2006/relationships/slide" Target="slide1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slide" Target="slide3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19.xml"/><Relationship Id="rId9" Type="http://schemas.openxmlformats.org/officeDocument/2006/relationships/slide" Target="slide2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1.xml"/><Relationship Id="rId3" Type="http://schemas.openxmlformats.org/officeDocument/2006/relationships/image" Target="../media/image30.png"/><Relationship Id="rId7" Type="http://schemas.openxmlformats.org/officeDocument/2006/relationships/slide" Target="slide25.xml"/><Relationship Id="rId12" Type="http://schemas.openxmlformats.org/officeDocument/2006/relationships/slide" Target="slide1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slide" Target="slide3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19.xml"/><Relationship Id="rId9" Type="http://schemas.openxmlformats.org/officeDocument/2006/relationships/slide" Target="sl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5.xml"/><Relationship Id="rId4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32.png"/><Relationship Id="rId7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5.xml"/><Relationship Id="rId5" Type="http://schemas.openxmlformats.org/officeDocument/2006/relationships/slide" Target="slide32.xml"/><Relationship Id="rId4" Type="http://schemas.openxmlformats.org/officeDocument/2006/relationships/hyperlink" Target="https://missing.csail.mit.edu/" TargetMode="External"/><Relationship Id="rId9" Type="http://schemas.openxmlformats.org/officeDocument/2006/relationships/slide" Target="slide3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33.png"/><Relationship Id="rId7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5.xml"/><Relationship Id="rId5" Type="http://schemas.openxmlformats.org/officeDocument/2006/relationships/slide" Target="slide32.xml"/><Relationship Id="rId4" Type="http://schemas.openxmlformats.org/officeDocument/2006/relationships/hyperlink" Target="https://guide.bash.academy/" TargetMode="External"/><Relationship Id="rId9" Type="http://schemas.openxmlformats.org/officeDocument/2006/relationships/slide" Target="slide3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34.png"/><Relationship Id="rId7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5.xml"/><Relationship Id="rId5" Type="http://schemas.openxmlformats.org/officeDocument/2006/relationships/slide" Target="slide32.xml"/><Relationship Id="rId4" Type="http://schemas.openxmlformats.org/officeDocument/2006/relationships/hyperlink" Target="https://themodernsoftware.dev/" TargetMode="External"/><Relationship Id="rId9" Type="http://schemas.openxmlformats.org/officeDocument/2006/relationships/slide" Target="slide3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image" Target="../media/image35.png"/><Relationship Id="rId7" Type="http://schemas.openxmlformats.org/officeDocument/2006/relationships/hyperlink" Target="https://www.youtube.com/watch?v=kF2WQgk1LtY" TargetMode="External"/><Relationship Id="rId12" Type="http://schemas.openxmlformats.org/officeDocument/2006/relationships/slide" Target="slide3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WVeYLlKOWc0" TargetMode="External"/><Relationship Id="rId11" Type="http://schemas.openxmlformats.org/officeDocument/2006/relationships/slide" Target="slide18.xml"/><Relationship Id="rId5" Type="http://schemas.openxmlformats.org/officeDocument/2006/relationships/hyperlink" Target="https://www.youtube.com/watch?v=DLP9CagE3dU" TargetMode="External"/><Relationship Id="rId10" Type="http://schemas.openxmlformats.org/officeDocument/2006/relationships/slide" Target="slide3.xml"/><Relationship Id="rId4" Type="http://schemas.openxmlformats.org/officeDocument/2006/relationships/hyperlink" Target="https://www.youtube.com/watch?v=px7XlbYgk7I" TargetMode="External"/><Relationship Id="rId9" Type="http://schemas.openxmlformats.org/officeDocument/2006/relationships/slide" Target="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3">
            <a:hlinkClick r:id="rId4" action="ppaction://hlinksldjump"/>
          </p:cNvPr>
          <p:cNvSpPr/>
          <p:nvPr/>
        </p:nvSpPr>
        <p:spPr>
          <a:xfrm>
            <a:off x="776436" y="2513848"/>
            <a:ext cx="1212235" cy="29324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18">
            <a:hlinkClick r:id="rId5" action="ppaction://hlinksldjump"/>
          </p:cNvPr>
          <p:cNvSpPr/>
          <p:nvPr/>
        </p:nvSpPr>
        <p:spPr>
          <a:xfrm>
            <a:off x="776436" y="3317918"/>
            <a:ext cx="1591528" cy="293274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31">
            <a:hlinkClick r:id="rId6" action="ppaction://hlinksldjump"/>
          </p:cNvPr>
          <p:cNvSpPr/>
          <p:nvPr/>
        </p:nvSpPr>
        <p:spPr>
          <a:xfrm>
            <a:off x="776436" y="4083898"/>
            <a:ext cx="1759482" cy="29324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482060" y="4026345"/>
            <a:ext cx="2528553" cy="3313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3457378" y="4026345"/>
            <a:ext cx="1648811" cy="3313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82060" y="4390559"/>
            <a:ext cx="1648812" cy="3313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3457378" y="4390559"/>
            <a:ext cx="1648811" cy="3313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482060" y="4754798"/>
            <a:ext cx="1648812" cy="33136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3457378" y="4792916"/>
            <a:ext cx="1212798" cy="29324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github.com/AnikiFan/BigData-SIGS.git">
            <a:hlinkClick r:id="rId4"/>
          </p:cNvPr>
          <p:cNvSpPr/>
          <p:nvPr/>
        </p:nvSpPr>
        <p:spPr>
          <a:xfrm>
            <a:off x="8224193" y="406390"/>
            <a:ext cx="511952" cy="2143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https://github.com/AnikiFan/BigData-SIGS.git">
            <a:hlinkClick r:id="rId4"/>
          </p:cNvPr>
          <p:cNvSpPr/>
          <p:nvPr/>
        </p:nvSpPr>
        <p:spPr>
          <a:xfrm>
            <a:off x="8224193" y="593859"/>
            <a:ext cx="3255688" cy="2143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4">
            <a:hlinkClick r:id="rId5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6">
            <a:hlinkClick r:id="rId6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8">
            <a:hlinkClick r:id="rId7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9">
            <a:hlinkClick r:id="rId8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10">
            <a:hlinkClick r:id="rId9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6">
            <a:hlinkClick r:id="rId10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code.visualstudio.com/docs/remote/ssh">
            <a:hlinkClick r:id="rId4"/>
          </p:cNvPr>
          <p:cNvSpPr/>
          <p:nvPr/>
        </p:nvSpPr>
        <p:spPr>
          <a:xfrm>
            <a:off x="2863841" y="4301931"/>
            <a:ext cx="6928009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4">
            <a:hlinkClick r:id="rId5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6">
            <a:hlinkClick r:id="rId6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8">
            <a:hlinkClick r:id="rId7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9">
            <a:hlinkClick r:id="rId8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0">
            <a:hlinkClick r:id="rId9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16">
            <a:hlinkClick r:id="rId10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4">
            <a:hlinkClick r:id="rId4" action="ppaction://hlinksldjump"/>
          </p:cNvPr>
          <p:cNvSpPr/>
          <p:nvPr/>
        </p:nvSpPr>
        <p:spPr>
          <a:xfrm>
            <a:off x="116879" y="6098267"/>
            <a:ext cx="179819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6">
            <a:hlinkClick r:id="rId5" action="ppaction://hlinksldjump"/>
          </p:cNvPr>
          <p:cNvSpPr/>
          <p:nvPr/>
        </p:nvSpPr>
        <p:spPr>
          <a:xfrm>
            <a:off x="2451860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8">
            <a:hlinkClick r:id="rId6" action="ppaction://hlinksldjump"/>
          </p:cNvPr>
          <p:cNvSpPr/>
          <p:nvPr/>
        </p:nvSpPr>
        <p:spPr>
          <a:xfrm>
            <a:off x="4483836" y="6098267"/>
            <a:ext cx="1192154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9">
            <a:hlinkClick r:id="rId7" action="ppaction://hlinksldjump"/>
          </p:cNvPr>
          <p:cNvSpPr/>
          <p:nvPr/>
        </p:nvSpPr>
        <p:spPr>
          <a:xfrm>
            <a:off x="6509576" y="6098267"/>
            <a:ext cx="120459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0">
            <a:hlinkClick r:id="rId8" action="ppaction://hlinksldjump"/>
          </p:cNvPr>
          <p:cNvSpPr/>
          <p:nvPr/>
        </p:nvSpPr>
        <p:spPr>
          <a:xfrm>
            <a:off x="8548863" y="6098267"/>
            <a:ext cx="1189950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16">
            <a:hlinkClick r:id="rId9" action="ppaction://hlinksldjump"/>
          </p:cNvPr>
          <p:cNvSpPr/>
          <p:nvPr/>
        </p:nvSpPr>
        <p:spPr>
          <a:xfrm>
            <a:off x="10735111" y="6126116"/>
            <a:ext cx="881380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19">
            <a:hlinkClick r:id="rId4" action="ppaction://hlinksldjump"/>
          </p:cNvPr>
          <p:cNvSpPr/>
          <p:nvPr/>
        </p:nvSpPr>
        <p:spPr>
          <a:xfrm>
            <a:off x="482060" y="4080376"/>
            <a:ext cx="1698193" cy="33136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20">
            <a:hlinkClick r:id="rId5" action="ppaction://hlinksldjump"/>
          </p:cNvPr>
          <p:cNvSpPr/>
          <p:nvPr/>
        </p:nvSpPr>
        <p:spPr>
          <a:xfrm>
            <a:off x="3457378" y="4080376"/>
            <a:ext cx="2216704" cy="33136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2">
            <a:hlinkClick r:id="rId6" action="ppaction://hlinksldjump"/>
          </p:cNvPr>
          <p:cNvSpPr/>
          <p:nvPr/>
        </p:nvSpPr>
        <p:spPr>
          <a:xfrm>
            <a:off x="482060" y="4444590"/>
            <a:ext cx="1698193" cy="331364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5">
            <a:hlinkClick r:id="rId7" action="ppaction://hlinksldjump"/>
          </p:cNvPr>
          <p:cNvSpPr/>
          <p:nvPr/>
        </p:nvSpPr>
        <p:spPr>
          <a:xfrm>
            <a:off x="3457378" y="4444590"/>
            <a:ext cx="1698219" cy="331364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5">
            <a:hlinkClick r:id="rId7" action="ppaction://hlinksldjump"/>
          </p:cNvPr>
          <p:cNvSpPr/>
          <p:nvPr/>
        </p:nvSpPr>
        <p:spPr>
          <a:xfrm>
            <a:off x="3982583" y="4846920"/>
            <a:ext cx="999173" cy="293247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6">
            <a:hlinkClick r:id="rId8" action="ppaction://hlinksldjump"/>
          </p:cNvPr>
          <p:cNvSpPr/>
          <p:nvPr/>
        </p:nvSpPr>
        <p:spPr>
          <a:xfrm>
            <a:off x="482060" y="5173016"/>
            <a:ext cx="2139232" cy="33136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8">
            <a:hlinkClick r:id="rId9" action="ppaction://hlinksldjump"/>
          </p:cNvPr>
          <p:cNvSpPr/>
          <p:nvPr/>
        </p:nvSpPr>
        <p:spPr>
          <a:xfrm>
            <a:off x="3457378" y="5173016"/>
            <a:ext cx="2139232" cy="33136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29">
            <a:hlinkClick r:id="rId10" action="ppaction://hlinksldjump"/>
          </p:cNvPr>
          <p:cNvSpPr/>
          <p:nvPr/>
        </p:nvSpPr>
        <p:spPr>
          <a:xfrm>
            <a:off x="482060" y="5537229"/>
            <a:ext cx="1698193" cy="3313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19">
            <a:hlinkClick r:id="rId4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20">
            <a:hlinkClick r:id="rId5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2">
            <a:hlinkClick r:id="rId6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5">
            <a:hlinkClick r:id="rId7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6">
            <a:hlinkClick r:id="rId8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8">
            <a:hlinkClick r:id="rId9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9">
            <a:hlinkClick r:id="rId10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man.openbsd.org/ssh_config#RemoteForward">
            <a:hlinkClick r:id="rId4"/>
          </p:cNvPr>
          <p:cNvSpPr/>
          <p:nvPr/>
        </p:nvSpPr>
        <p:spPr>
          <a:xfrm>
            <a:off x="8224193" y="385664"/>
            <a:ext cx="511952" cy="2143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https://man.openbsd.org/ssh_config#RemoteForward">
            <a:hlinkClick r:id="rId4"/>
          </p:cNvPr>
          <p:cNvSpPr/>
          <p:nvPr/>
        </p:nvSpPr>
        <p:spPr>
          <a:xfrm>
            <a:off x="8224193" y="573107"/>
            <a:ext cx="3583585" cy="2143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19">
            <a:hlinkClick r:id="rId5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0">
            <a:hlinkClick r:id="rId6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2">
            <a:hlinkClick r:id="rId7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5">
            <a:hlinkClick r:id="rId8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6">
            <a:hlinkClick r:id="rId9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28">
            <a:hlinkClick r:id="rId10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29">
            <a:hlinkClick r:id="rId11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">
            <a:hlinkClick r:id="rId12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k to slide 18">
            <a:hlinkClick r:id="rId13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ink to slide 31">
            <a:hlinkClick r:id="rId14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linux.die.net/man/5/ssh_config">
            <a:hlinkClick r:id="rId4"/>
          </p:cNvPr>
          <p:cNvSpPr/>
          <p:nvPr/>
        </p:nvSpPr>
        <p:spPr>
          <a:xfrm>
            <a:off x="8224193" y="407519"/>
            <a:ext cx="3242301" cy="21435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19">
            <a:hlinkClick r:id="rId5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0">
            <a:hlinkClick r:id="rId6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2">
            <a:hlinkClick r:id="rId7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5">
            <a:hlinkClick r:id="rId8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6">
            <a:hlinkClick r:id="rId9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8">
            <a:hlinkClick r:id="rId10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29">
            <a:hlinkClick r:id="rId11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">
            <a:hlinkClick r:id="rId12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18">
            <a:hlinkClick r:id="rId13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k to slide 31">
            <a:hlinkClick r:id="rId14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19">
            <a:hlinkClick r:id="rId4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20">
            <a:hlinkClick r:id="rId5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2">
            <a:hlinkClick r:id="rId6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5">
            <a:hlinkClick r:id="rId7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6">
            <a:hlinkClick r:id="rId8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8">
            <a:hlinkClick r:id="rId9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9">
            <a:hlinkClick r:id="rId10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19">
            <a:hlinkClick r:id="rId4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20">
            <a:hlinkClick r:id="rId5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2">
            <a:hlinkClick r:id="rId6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5">
            <a:hlinkClick r:id="rId7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6">
            <a:hlinkClick r:id="rId8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8">
            <a:hlinkClick r:id="rId9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9">
            <a:hlinkClick r:id="rId10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19">
            <a:hlinkClick r:id="rId4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20">
            <a:hlinkClick r:id="rId5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2">
            <a:hlinkClick r:id="rId6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5">
            <a:hlinkClick r:id="rId7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6">
            <a:hlinkClick r:id="rId8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8">
            <a:hlinkClick r:id="rId9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9">
            <a:hlinkClick r:id="rId10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github.com/HenryChiao/MIHOMO_YAMLS.git">
            <a:hlinkClick r:id="rId4"/>
          </p:cNvPr>
          <p:cNvSpPr/>
          <p:nvPr/>
        </p:nvSpPr>
        <p:spPr>
          <a:xfrm>
            <a:off x="482060" y="4132445"/>
            <a:ext cx="7081957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19">
            <a:hlinkClick r:id="rId5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0">
            <a:hlinkClick r:id="rId6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2">
            <a:hlinkClick r:id="rId7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5">
            <a:hlinkClick r:id="rId8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6">
            <a:hlinkClick r:id="rId9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8">
            <a:hlinkClick r:id="rId10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29">
            <a:hlinkClick r:id="rId11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">
            <a:hlinkClick r:id="rId12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18">
            <a:hlinkClick r:id="rId13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k to slide 31">
            <a:hlinkClick r:id="rId14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learn.chatgpt.com/docs/agent-configuration/agents-md">
            <a:hlinkClick r:id="rId4"/>
          </p:cNvPr>
          <p:cNvSpPr/>
          <p:nvPr/>
        </p:nvSpPr>
        <p:spPr>
          <a:xfrm>
            <a:off x="8224193" y="239968"/>
            <a:ext cx="1576017" cy="18158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https://learn.chatgpt.com/docs/agent-configuration/agents-md">
            <a:hlinkClick r:id="rId4"/>
          </p:cNvPr>
          <p:cNvSpPr/>
          <p:nvPr/>
        </p:nvSpPr>
        <p:spPr>
          <a:xfrm>
            <a:off x="482060" y="5622470"/>
            <a:ext cx="9264119" cy="3906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19">
            <a:hlinkClick r:id="rId5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0">
            <a:hlinkClick r:id="rId6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2">
            <a:hlinkClick r:id="rId7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5">
            <a:hlinkClick r:id="rId8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6">
            <a:hlinkClick r:id="rId9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28">
            <a:hlinkClick r:id="rId10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29">
            <a:hlinkClick r:id="rId11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">
            <a:hlinkClick r:id="rId12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k to slide 18">
            <a:hlinkClick r:id="rId13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ink to slide 31">
            <a:hlinkClick r:id="rId14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learn.chatgpt.com/docs/agent-configuration/agents-md">
            <a:hlinkClick r:id="rId4"/>
          </p:cNvPr>
          <p:cNvSpPr/>
          <p:nvPr/>
        </p:nvSpPr>
        <p:spPr>
          <a:xfrm>
            <a:off x="8224193" y="239968"/>
            <a:ext cx="1576017" cy="18158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https://learn.chatgpt.com/docs/agent-configuration/agents-md">
            <a:hlinkClick r:id="rId4"/>
          </p:cNvPr>
          <p:cNvSpPr/>
          <p:nvPr/>
        </p:nvSpPr>
        <p:spPr>
          <a:xfrm>
            <a:off x="482060" y="5465134"/>
            <a:ext cx="9264119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19">
            <a:hlinkClick r:id="rId5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0">
            <a:hlinkClick r:id="rId6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2">
            <a:hlinkClick r:id="rId7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5">
            <a:hlinkClick r:id="rId8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6">
            <a:hlinkClick r:id="rId9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28">
            <a:hlinkClick r:id="rId10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29">
            <a:hlinkClick r:id="rId11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">
            <a:hlinkClick r:id="rId12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k to slide 18">
            <a:hlinkClick r:id="rId13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ink to slide 31">
            <a:hlinkClick r:id="rId14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developers.openai.com/blog/rethinking-skills-and-prompts-for-gpt-6-astra?utm_source=chatgpt.com">
            <a:hlinkClick r:id="rId4"/>
          </p:cNvPr>
          <p:cNvSpPr/>
          <p:nvPr/>
        </p:nvSpPr>
        <p:spPr>
          <a:xfrm>
            <a:off x="8224193" y="240775"/>
            <a:ext cx="1613436" cy="18158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https://developers.openai.com/blog/rethinking-skills-and-prompts-for-gpt-6-astra?utm_source=chatgpt.com">
            <a:hlinkClick r:id="rId4"/>
          </p:cNvPr>
          <p:cNvSpPr/>
          <p:nvPr/>
        </p:nvSpPr>
        <p:spPr>
          <a:xfrm>
            <a:off x="482060" y="4472008"/>
            <a:ext cx="5388442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https://developers.openai.com/blog/rethinking-skills-and-prompts-for-gpt-6-astra?utm_source=chatgpt.com">
            <a:hlinkClick r:id="rId4"/>
          </p:cNvPr>
          <p:cNvSpPr/>
          <p:nvPr/>
        </p:nvSpPr>
        <p:spPr>
          <a:xfrm>
            <a:off x="482060" y="4836222"/>
            <a:ext cx="10562722" cy="3906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19">
            <a:hlinkClick r:id="rId5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0">
            <a:hlinkClick r:id="rId6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2">
            <a:hlinkClick r:id="rId7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5">
            <a:hlinkClick r:id="rId8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26">
            <a:hlinkClick r:id="rId9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28">
            <a:hlinkClick r:id="rId10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29">
            <a:hlinkClick r:id="rId11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k to slide 3">
            <a:hlinkClick r:id="rId12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ink to slide 18">
            <a:hlinkClick r:id="rId13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ink to slide 31">
            <a:hlinkClick r:id="rId14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19">
            <a:hlinkClick r:id="rId4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20">
            <a:hlinkClick r:id="rId5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2">
            <a:hlinkClick r:id="rId6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5">
            <a:hlinkClick r:id="rId7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6">
            <a:hlinkClick r:id="rId8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8">
            <a:hlinkClick r:id="rId9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9">
            <a:hlinkClick r:id="rId10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19">
            <a:hlinkClick r:id="rId4" action="ppaction://hlinksldjump"/>
          </p:cNvPr>
          <p:cNvSpPr/>
          <p:nvPr/>
        </p:nvSpPr>
        <p:spPr>
          <a:xfrm>
            <a:off x="275075" y="6097729"/>
            <a:ext cx="1191536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20">
            <a:hlinkClick r:id="rId5" action="ppaction://hlinksldjump"/>
          </p:cNvPr>
          <p:cNvSpPr/>
          <p:nvPr/>
        </p:nvSpPr>
        <p:spPr>
          <a:xfrm>
            <a:off x="2023240" y="6097729"/>
            <a:ext cx="1178579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22">
            <a:hlinkClick r:id="rId6" action="ppaction://hlinksldjump"/>
          </p:cNvPr>
          <p:cNvSpPr/>
          <p:nvPr/>
        </p:nvSpPr>
        <p:spPr>
          <a:xfrm>
            <a:off x="3740088" y="6097729"/>
            <a:ext cx="1228255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25">
            <a:hlinkClick r:id="rId7" action="ppaction://hlinksldjump"/>
          </p:cNvPr>
          <p:cNvSpPr/>
          <p:nvPr/>
        </p:nvSpPr>
        <p:spPr>
          <a:xfrm>
            <a:off x="5539030" y="6125578"/>
            <a:ext cx="1113715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26">
            <a:hlinkClick r:id="rId8" action="ppaction://hlinksldjump"/>
          </p:cNvPr>
          <p:cNvSpPr/>
          <p:nvPr/>
        </p:nvSpPr>
        <p:spPr>
          <a:xfrm>
            <a:off x="7224535" y="6097729"/>
            <a:ext cx="122607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28">
            <a:hlinkClick r:id="rId9" action="ppaction://hlinksldjump"/>
          </p:cNvPr>
          <p:cNvSpPr/>
          <p:nvPr/>
        </p:nvSpPr>
        <p:spPr>
          <a:xfrm>
            <a:off x="8961248" y="6097729"/>
            <a:ext cx="12359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29">
            <a:hlinkClick r:id="rId10" action="ppaction://hlinksldjump"/>
          </p:cNvPr>
          <p:cNvSpPr/>
          <p:nvPr/>
        </p:nvSpPr>
        <p:spPr>
          <a:xfrm>
            <a:off x="10717584" y="6097729"/>
            <a:ext cx="1206697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3">
            <a:hlinkClick r:id="rId11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18">
            <a:hlinkClick r:id="rId12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k to slide 31">
            <a:hlinkClick r:id="rId13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slide 32">
            <a:hlinkClick r:id="rId4" action="ppaction://hlinksldjump"/>
          </p:cNvPr>
          <p:cNvSpPr/>
          <p:nvPr/>
        </p:nvSpPr>
        <p:spPr>
          <a:xfrm>
            <a:off x="482060" y="4108655"/>
            <a:ext cx="2267671" cy="33136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35">
            <a:hlinkClick r:id="rId5" action="ppaction://hlinksldjump"/>
          </p:cNvPr>
          <p:cNvSpPr/>
          <p:nvPr/>
        </p:nvSpPr>
        <p:spPr>
          <a:xfrm>
            <a:off x="482060" y="4472869"/>
            <a:ext cx="1681177" cy="331364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missing.csail.mit.edu/">
            <a:hlinkClick r:id="rId4"/>
          </p:cNvPr>
          <p:cNvSpPr/>
          <p:nvPr/>
        </p:nvSpPr>
        <p:spPr>
          <a:xfrm>
            <a:off x="3373025" y="5577040"/>
            <a:ext cx="4618672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32">
            <a:hlinkClick r:id="rId5" action="ppaction://hlinksldjump"/>
          </p:cNvPr>
          <p:cNvSpPr/>
          <p:nvPr/>
        </p:nvSpPr>
        <p:spPr>
          <a:xfrm>
            <a:off x="2237940" y="6097622"/>
            <a:ext cx="1620021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35">
            <a:hlinkClick r:id="rId6" action="ppaction://hlinksldjump"/>
          </p:cNvPr>
          <p:cNvSpPr/>
          <p:nvPr/>
        </p:nvSpPr>
        <p:spPr>
          <a:xfrm>
            <a:off x="8529724" y="6097622"/>
            <a:ext cx="1228228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3">
            <a:hlinkClick r:id="rId7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8">
            <a:hlinkClick r:id="rId8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31">
            <a:hlinkClick r:id="rId9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guide.bash.academy/">
            <a:hlinkClick r:id="rId4"/>
          </p:cNvPr>
          <p:cNvSpPr/>
          <p:nvPr/>
        </p:nvSpPr>
        <p:spPr>
          <a:xfrm>
            <a:off x="2625862" y="5577040"/>
            <a:ext cx="4156800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32">
            <a:hlinkClick r:id="rId5" action="ppaction://hlinksldjump"/>
          </p:cNvPr>
          <p:cNvSpPr/>
          <p:nvPr/>
        </p:nvSpPr>
        <p:spPr>
          <a:xfrm>
            <a:off x="2237940" y="6097622"/>
            <a:ext cx="1620021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35">
            <a:hlinkClick r:id="rId6" action="ppaction://hlinksldjump"/>
          </p:cNvPr>
          <p:cNvSpPr/>
          <p:nvPr/>
        </p:nvSpPr>
        <p:spPr>
          <a:xfrm>
            <a:off x="8529724" y="6097622"/>
            <a:ext cx="1228228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3">
            <a:hlinkClick r:id="rId7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8">
            <a:hlinkClick r:id="rId8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31">
            <a:hlinkClick r:id="rId9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themodernsoftware.dev/">
            <a:hlinkClick r:id="rId4"/>
          </p:cNvPr>
          <p:cNvSpPr/>
          <p:nvPr/>
        </p:nvSpPr>
        <p:spPr>
          <a:xfrm>
            <a:off x="482060" y="5624512"/>
            <a:ext cx="4618673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slide 32">
            <a:hlinkClick r:id="rId5" action="ppaction://hlinksldjump"/>
          </p:cNvPr>
          <p:cNvSpPr/>
          <p:nvPr/>
        </p:nvSpPr>
        <p:spPr>
          <a:xfrm>
            <a:off x="2237940" y="6097622"/>
            <a:ext cx="1620021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slide 35">
            <a:hlinkClick r:id="rId6" action="ppaction://hlinksldjump"/>
          </p:cNvPr>
          <p:cNvSpPr/>
          <p:nvPr/>
        </p:nvSpPr>
        <p:spPr>
          <a:xfrm>
            <a:off x="8529724" y="6097622"/>
            <a:ext cx="1228228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slide 3">
            <a:hlinkClick r:id="rId7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18">
            <a:hlinkClick r:id="rId8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31">
            <a:hlinkClick r:id="rId9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  <p:sp>
        <p:nvSpPr>
          <p:cNvPr id="3" name="Link to https://www.youtube.com/watch?v=px7XlbYgk7I">
            <a:hlinkClick r:id="rId4"/>
          </p:cNvPr>
          <p:cNvSpPr/>
          <p:nvPr/>
        </p:nvSpPr>
        <p:spPr>
          <a:xfrm>
            <a:off x="1362231" y="2515945"/>
            <a:ext cx="6620112" cy="3906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ink to https://www.youtube.com/watch?v=DLP9CagE3dU">
            <a:hlinkClick r:id="rId5"/>
          </p:cNvPr>
          <p:cNvSpPr/>
          <p:nvPr/>
        </p:nvSpPr>
        <p:spPr>
          <a:xfrm>
            <a:off x="1362231" y="2880158"/>
            <a:ext cx="6620112" cy="39061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k to https://www.youtube.com/watch?v=WVeYLlKOWc0">
            <a:hlinkClick r:id="rId6"/>
          </p:cNvPr>
          <p:cNvSpPr/>
          <p:nvPr/>
        </p:nvSpPr>
        <p:spPr>
          <a:xfrm>
            <a:off x="1407902" y="3324719"/>
            <a:ext cx="6620112" cy="39061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k to https://www.youtube.com/watch?v=kF2WQgk1LtY">
            <a:hlinkClick r:id="rId7"/>
          </p:cNvPr>
          <p:cNvSpPr/>
          <p:nvPr/>
        </p:nvSpPr>
        <p:spPr>
          <a:xfrm>
            <a:off x="1362231" y="3688959"/>
            <a:ext cx="6620112" cy="390584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k to slide 32">
            <a:hlinkClick r:id="rId8" action="ppaction://hlinksldjump"/>
          </p:cNvPr>
          <p:cNvSpPr/>
          <p:nvPr/>
        </p:nvSpPr>
        <p:spPr>
          <a:xfrm>
            <a:off x="2237940" y="6097622"/>
            <a:ext cx="1620021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k to slide 35">
            <a:hlinkClick r:id="rId9" action="ppaction://hlinksldjump"/>
          </p:cNvPr>
          <p:cNvSpPr/>
          <p:nvPr/>
        </p:nvSpPr>
        <p:spPr>
          <a:xfrm>
            <a:off x="8529724" y="6097622"/>
            <a:ext cx="1228228" cy="242091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k to slide 3">
            <a:hlinkClick r:id="rId10" action="ppaction://hlinksldjump"/>
          </p:cNvPr>
          <p:cNvSpPr/>
          <p:nvPr/>
        </p:nvSpPr>
        <p:spPr>
          <a:xfrm>
            <a:off x="1498169" y="6379901"/>
            <a:ext cx="1067587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k to slide 18">
            <a:hlinkClick r:id="rId11" action="ppaction://hlinksldjump"/>
          </p:cNvPr>
          <p:cNvSpPr/>
          <p:nvPr/>
        </p:nvSpPr>
        <p:spPr>
          <a:xfrm>
            <a:off x="5408442" y="6379901"/>
            <a:ext cx="1374919" cy="21424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k to slide 31">
            <a:hlinkClick r:id="rId12" action="ppaction://hlinksldjump"/>
          </p:cNvPr>
          <p:cNvSpPr/>
          <p:nvPr/>
        </p:nvSpPr>
        <p:spPr>
          <a:xfrm>
            <a:off x="9410997" y="6352052"/>
            <a:ext cx="1497631" cy="242092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9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</Words>
  <Application>Microsoft Office PowerPoint</Application>
  <PresentationFormat>Widescreen</PresentationFormat>
  <Paragraphs>155</Paragraphs>
  <Slides>36</Slides>
  <Notes>36</Notes>
  <HiddenSlides>9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大数据系统基础（B）</dc:title>
  <dc:subject/>
  <dc:creator>范潇</dc:creator>
  <cp:keywords/>
  <dc:description/>
  <cp:lastModifiedBy>Xiao Fan@SIGS MMLab</cp:lastModifiedBy>
  <cp:revision>2</cp:revision>
  <dcterms:created xsi:type="dcterms:W3CDTF">2026-10-13T02:49:15Z</dcterms:created>
  <dcterms:modified xsi:type="dcterms:W3CDTF">2026-10-13T08:52:21Z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Lab1 Linux</vt:lpwstr>
  </property>
  <property fmtid="{D5CDD505-2E9C-101B-9397-08002B2CF9AE}" pid="3" name="Group">
    <vt:lpwstr>实验课讲解</vt:lpwstr>
  </property>
  <property fmtid="{D5CDD505-2E9C-101B-9397-08002B2CF9AE}" pid="4" name="Advisor">
    <vt:lpwstr>王智 副教授</vt:lpwstr>
  </property>
  <property fmtid="{D5CDD505-2E9C-101B-9397-08002B2CF9AE}" pid="5" name="PresentationDate">
    <vt:lpwstr>2026年10月13日</vt:lpwstr>
  </property>
  <property fmtid="{D5CDD505-2E9C-101B-9397-08002B2CF9AE}" pid="6" name="Contact">
    <vt:lpwstr>fx26@mails.tsinghua.edu.cn</vt:lpwstr>
  </property>
</Properties>
</file>